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B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77240"/>
            <a:ext cx="146304" cy="4297680"/>
          </a:xfrm>
          <a:prstGeom prst="rect">
            <a:avLst/>
          </a:prstGeom>
          <a:solidFill>
            <a:srgbClr val="E1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143000"/>
            <a:ext cx="9875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Customer Spending &amp;</a:t>
            </a:r>
            <a:br/>
            <a:r>
              <a:t>Loyalty Analysis</a:t>
            </a:r>
          </a:p>
          <a:p>
            <a:pPr>
              <a:defRPr sz="1600">
                <a:solidFill>
                  <a:srgbClr val="DCE6F0"/>
                </a:solidFill>
              </a:defRPr>
            </a:pPr>
            <a:r>
              <a:t>Python + MySQL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2578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CE6F0"/>
                </a:solidFill>
              </a:defRPr>
            </a:pPr>
            <a:r>
              <a:t>Anuj Yadav  |  Customer shopping behavior dataset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B61"/>
                </a:solidFill>
                <a:latin typeface="Calibri"/>
              </a:defRPr>
            </a:pPr>
            <a:r>
              <a:t>What this project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  <a:latin typeface="Calibri"/>
              </a:defRPr>
            </a:pPr>
            <a:r>
              <a:t>A practical customer-shopping analysis using a static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93B61"/>
                </a:solidFill>
                <a:latin typeface="Calibri"/>
              </a:defRPr>
            </a:pPr>
            <a:r>
              <a:t>Where is recorded spend concentrated?</a:t>
            </a:r>
          </a:p>
          <a:p>
            <a:pPr>
              <a:spcAft>
                <a:spcPts val="1300"/>
              </a:spcAft>
              <a:defRPr sz="2000">
                <a:solidFill>
                  <a:srgbClr val="193B61"/>
                </a:solidFill>
                <a:latin typeface="Calibri"/>
              </a:defRPr>
            </a:pPr>
            <a:r>
              <a:t>Which customer and product patterns are worth investigating?</a:t>
            </a:r>
          </a:p>
          <a:p>
            <a:pPr>
              <a:spcAft>
                <a:spcPts val="1300"/>
              </a:spcAft>
              <a:defRPr sz="2000">
                <a:solidFill>
                  <a:srgbClr val="193B61"/>
                </a:solidFill>
                <a:latin typeface="Calibri"/>
              </a:defRPr>
            </a:pPr>
            <a:r>
              <a:t>How can Python and SQL answer the same business questions?</a:t>
            </a:r>
          </a:p>
          <a:p>
            <a:pPr>
              <a:spcAft>
                <a:spcPts val="1300"/>
              </a:spcAft>
              <a:defRPr sz="2000">
                <a:solidFill>
                  <a:srgbClr val="193B61"/>
                </a:solidFill>
                <a:latin typeface="Calibri"/>
              </a:defRPr>
            </a:pPr>
            <a:r>
              <a:t>What should be tested or added before acting on the findings?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B61"/>
                </a:solidFill>
                <a:latin typeface="Calibri"/>
              </a:defRPr>
            </a:pPr>
            <a:r>
              <a:t>Dataset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  <a:latin typeface="Calibri"/>
              </a:defRPr>
            </a:pPr>
            <a:r>
              <a:t>3,900 records, 18 source fields, and 37 missing review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B61"/>
                </a:solidFill>
                <a:latin typeface="Calibri"/>
              </a:defRPr>
            </a:pPr>
            <a:r>
              <a:t>3,900</a:t>
            </a:r>
          </a:p>
          <a:p>
            <a:pPr>
              <a:defRPr sz="1000">
                <a:solidFill>
                  <a:srgbClr val="667085"/>
                </a:solidFill>
              </a:defRPr>
            </a:pPr>
            <a:r>
              <a:t>customer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55448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B61"/>
                </a:solidFill>
                <a:latin typeface="Calibri"/>
              </a:defRPr>
            </a:pPr>
            <a:r>
              <a:t>$233K</a:t>
            </a:r>
          </a:p>
          <a:p>
            <a:pPr>
              <a:defRPr sz="1000">
                <a:solidFill>
                  <a:srgbClr val="667085"/>
                </a:solidFill>
              </a:defRPr>
            </a:pPr>
            <a:r>
              <a:t>recorded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55448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B61"/>
                </a:solidFill>
                <a:latin typeface="Calibri"/>
              </a:defRPr>
            </a:pPr>
            <a:r>
              <a:t>$59.76</a:t>
            </a:r>
          </a:p>
          <a:p>
            <a:pPr>
              <a:defRPr sz="1000">
                <a:solidFill>
                  <a:srgbClr val="667085"/>
                </a:solidFill>
              </a:defRPr>
            </a:pPr>
            <a:r>
              <a:t>average purchase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55448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B61"/>
                </a:solidFill>
                <a:latin typeface="Calibri"/>
              </a:defRPr>
            </a:pPr>
            <a:r>
              <a:t>3.8 / 5</a:t>
            </a:r>
          </a:p>
          <a:p>
            <a:pPr>
              <a:defRPr sz="1000">
                <a:solidFill>
                  <a:srgbClr val="667085"/>
                </a:solidFill>
              </a:defRPr>
            </a:pPr>
            <a:r>
              <a:t>median rating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93B61"/>
                </a:solidFill>
                <a:latin typeface="Calibri"/>
              </a:defRPr>
            </a:pPr>
            <a:r>
              <a:t>Fields cover customer profile, item and category attributes, spend, location, rating, shipping, discount status, subscription status, and prior purchases.</a:t>
            </a:r>
          </a:p>
          <a:p>
            <a:pPr>
              <a:spcAft>
                <a:spcPts val="1300"/>
              </a:spcAft>
              <a:defRPr sz="1700">
                <a:solidFill>
                  <a:srgbClr val="193B61"/>
                </a:solidFill>
                <a:latin typeface="Calibri"/>
              </a:defRPr>
            </a:pPr>
            <a:r>
              <a:t>No dates, product costs, inventory fields, or campaign costs are present.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B61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  <a:latin typeface="Calibri"/>
              </a:defRPr>
            </a:pPr>
            <a:r>
              <a:t>What was done before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Loaded and profiled the CSV with pandas.</a:t>
            </a:r>
          </a:p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Checked full-row duplicates: none found.</a:t>
            </a:r>
          </a:p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Imputed 37 blank review ratings with the dataset median (3.8) for summaries.</a:t>
            </a:r>
          </a:p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Created Age Group, Loyalty Group, and Purchase Band fields.</a:t>
            </a:r>
          </a:p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Exported a clean file that can be loaded into MySQL.</a:t>
            </a:r>
          </a:p>
        </p:txBody>
      </p:sp>
      <p:pic>
        <p:nvPicPr>
          <p:cNvPr id="7" name="Picture 6" descr="seas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7548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B61"/>
                </a:solidFill>
                <a:latin typeface="Calibri"/>
              </a:defRPr>
            </a:pPr>
            <a:r>
              <a:t>Finding 1 — category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  <a:latin typeface="Calibri"/>
              </a:defRPr>
            </a:pPr>
            <a:r>
              <a:t>Clothing represents 44.7% of recorded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05</a:t>
            </a:r>
          </a:p>
        </p:txBody>
      </p:sp>
      <p:pic>
        <p:nvPicPr>
          <p:cNvPr id="6" name="Picture 5" descr="category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731520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508760"/>
            <a:ext cx="2834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Clothing: $104.3K</a:t>
            </a:r>
          </a:p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Accessories: $74.2K</a:t>
            </a:r>
          </a:p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Start category review with these two groups.</a:t>
            </a:r>
          </a:p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Spend is not profit; margin data is needed before a commercial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B61"/>
                </a:solidFill>
                <a:latin typeface="Calibri"/>
              </a:defRPr>
            </a:pPr>
            <a:r>
              <a:t>Finding 2 — age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  <a:latin typeface="Calibri"/>
              </a:defRPr>
            </a:pPr>
            <a:r>
              <a:t>55+ is the largest spend group because it is also the largest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06</a:t>
            </a:r>
          </a:p>
        </p:txBody>
      </p:sp>
      <p:pic>
        <p:nvPicPr>
          <p:cNvPr id="6" name="Picture 5" descr="age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731520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508760"/>
            <a:ext cx="2834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55+ contributes $69.6K of recorded spend.</a:t>
            </a:r>
          </a:p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Average purchase is similar across age groups.</a:t>
            </a:r>
          </a:p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Do not infer that age alone causes higher order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B61"/>
                </a:solidFill>
                <a:latin typeface="Calibri"/>
              </a:defRPr>
            </a:pPr>
            <a:r>
              <a:t>Finding 3 — shipping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  <a:latin typeface="Calibri"/>
              </a:defRPr>
            </a:pPr>
            <a:r>
              <a:t>Purchase value changes very little by delivery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07</a:t>
            </a:r>
          </a:p>
        </p:txBody>
      </p:sp>
      <p:pic>
        <p:nvPicPr>
          <p:cNvPr id="6" name="Picture 5" descr="shipping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731520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508760"/>
            <a:ext cx="2834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Highest average: 2-Day Shipping ($60.73).</a:t>
            </a:r>
          </a:p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Lowest average: Standard ($58.46).</a:t>
            </a:r>
          </a:p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The observed range is only $2.27.</a:t>
            </a:r>
          </a:p>
          <a:p>
            <a:pPr>
              <a:spcAft>
                <a:spcPts val="1300"/>
              </a:spcAft>
              <a:defRPr sz="1600">
                <a:solidFill>
                  <a:srgbClr val="193B61"/>
                </a:solidFill>
                <a:latin typeface="Calibri"/>
              </a:defRPr>
            </a:pPr>
            <a:r>
              <a:t>A shipping decision needs delivery cost and satisfaction data too.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B61"/>
                </a:solidFill>
                <a:latin typeface="Calibri"/>
              </a:defRPr>
            </a:pPr>
            <a:r>
              <a:t>SQL questions used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  <a:latin typeface="Calibri"/>
              </a:defRPr>
            </a:pPr>
            <a:r>
              <a:t>The database version makes the analysis reusable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Portfolio baseline — customers, recorded spend, average purchase, rating.</a:t>
            </a:r>
          </a:p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Category scorecard — category-level records, spend, average purchase, and ratings.</a:t>
            </a:r>
          </a:p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Segment, purchase band, location, product, shipping, season, frequency, and payment-method queries.</a:t>
            </a:r>
          </a:p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Data-quality check — loaded rows, distinct customers, null ratings, and null spend.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B61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  <a:latin typeface="Calibri"/>
              </a:defRPr>
            </a:pPr>
            <a:r>
              <a:t>Turn observations into testable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93B61"/>
                </a:solidFill>
                <a:latin typeface="Calibri"/>
              </a:defRPr>
            </a:pPr>
            <a:r>
              <a:t>Review Clothing and Accessories alongside availability, margin, and product-level feedback.</a:t>
            </a:r>
          </a:p>
          <a:p>
            <a:pPr>
              <a:spcAft>
                <a:spcPts val="1300"/>
              </a:spcAft>
              <a:defRPr sz="1900">
                <a:solidFill>
                  <a:srgbClr val="193B61"/>
                </a:solidFill>
                <a:latin typeface="Calibri"/>
              </a:defRPr>
            </a:pPr>
            <a:r>
              <a:t>Use a controlled experiment before concluding that discounts or subscriptions change spend.</a:t>
            </a:r>
          </a:p>
          <a:p>
            <a:pPr>
              <a:spcAft>
                <a:spcPts val="1300"/>
              </a:spcAft>
              <a:defRPr sz="1900">
                <a:solidFill>
                  <a:srgbClr val="193B61"/>
                </a:solidFill>
                <a:latin typeface="Calibri"/>
              </a:defRPr>
            </a:pPr>
            <a:r>
              <a:t>Test a benefit for subscribers and measure repeat purchase, churn, and cost.</a:t>
            </a:r>
          </a:p>
          <a:p>
            <a:pPr>
              <a:spcAft>
                <a:spcPts val="1300"/>
              </a:spcAft>
              <a:defRPr sz="1900">
                <a:solidFill>
                  <a:srgbClr val="193B61"/>
                </a:solidFill>
                <a:latin typeface="Calibri"/>
              </a:defRPr>
            </a:pPr>
            <a:r>
              <a:t>Add transaction dates, margin, inventory, and campaign fields in a future 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B61"/>
                </a:solidFill>
                <a:latin typeface="Calibri"/>
              </a:defRPr>
            </a:pPr>
            <a:r>
              <a:t>Project limitations and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85"/>
                </a:solidFill>
                <a:latin typeface="Calibri"/>
              </a:defRPr>
            </a:pPr>
            <a:r>
              <a:t>A reproducible student portfolio project—not a claim of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85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Static customer-level sample: no time-series or causal analysis is possible.</a:t>
            </a:r>
          </a:p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Included: executed notebook, Python script, 12-query MySQL file, report, business problem statement, CSV summaries, charts, and this presentation.</a:t>
            </a:r>
          </a:p>
          <a:p>
            <a:pPr>
              <a:spcAft>
                <a:spcPts val="1300"/>
              </a:spcAft>
              <a:defRPr sz="1800">
                <a:solidFill>
                  <a:srgbClr val="193B61"/>
                </a:solidFill>
                <a:latin typeface="Calibri"/>
              </a:defRPr>
            </a:pPr>
            <a:r>
              <a:t>The report documents the methodology and limitations so a reviewer can understand how conclusions were reached.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